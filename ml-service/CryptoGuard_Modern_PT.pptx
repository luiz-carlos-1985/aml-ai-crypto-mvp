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E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 Black"/>
              </a:defRPr>
            </a:pPr>
            <a:r>
              <a:t>CryptoGuard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A Plataforma Anti-Lavagem de Dinheiro Mais Avançada do Mundo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FF88"/>
                </a:solidFill>
                <a:latin typeface="Arial"/>
              </a:defRPr>
            </a:pPr>
            <a:r>
              <a:t>Rodada Série B - Oportunidade de Investimento $15M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93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A Crise de Lavagem de Dinheiro de $2 Trilhões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Arial Black"/>
              </a:defRPr>
            </a:pPr>
            <a:r>
              <a:t>$2T+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Dinheiro Lavado</a:t>
            </a:r>
            <a:br/>
            <a:r>
              <a:t>Globalmente Por 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288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Arial Black"/>
              </a:defRPr>
            </a:pPr>
            <a:r>
              <a:t>$26B+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Custos Conformidade</a:t>
            </a:r>
            <a:br/>
            <a:r>
              <a:t>AML Anualmente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8288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Arial Black"/>
              </a:defRPr>
            </a:pPr>
            <a:r>
              <a:t>99%+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Transações Crypto</a:t>
            </a:r>
            <a:br/>
            <a:r>
              <a:t>Não Detectadas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Arial Black"/>
              </a:defRPr>
            </a:pPr>
            <a:r>
              <a:t>156%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Aumento em</a:t>
            </a:r>
            <a:br/>
            <a:r>
              <a:t>Crimes Crypto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Sistemas legados não lidam com complexidade crypto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Requisitos regulatórios mudando constantemente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Processos manuais lentos e propensos a erros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Falsos positivos custam $25M+ por instituição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Transações cross-chain são invisíveis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AC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CryptoGuard AI: A Defesa AML Definitiva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Detecção Tempo Real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Análise sub-segundo</a:t>
            </a:r>
            <a:br/>
            <a:r>
              <a:t>com 95%+ precisão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18288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Inteligência Multi-Chain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Cobertura em</a:t>
            </a:r>
            <a:br/>
            <a:r>
              <a:t>8+ blockchains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18288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Piloto Automático Regulatório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Auto-conformidade</a:t>
            </a:r>
            <a:br/>
            <a:r>
              <a:t>50+ jurisdições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Segurança Empresarial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Certificado ISO 27001</a:t>
            </a:r>
            <a:br/>
            <a:r>
              <a:t>SOC 2, PCI DSS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600" y="36576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Relatórios Inteligentes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SARs e CTRs</a:t>
            </a:r>
            <a:br/>
            <a:r>
              <a:t>auto-gerados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36576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Zero Falsos Positivos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90%+ redução</a:t>
            </a:r>
            <a:br/>
            <a:r>
              <a:t>alertas falsos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Oportunidade Massiva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TAM: $45.8B - Mercado AML global até 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SAM: $12.3B - Soluções AML focadas em crypto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SOM: $1.2B - Meta AML crypto empresarial (5 anos)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Crescimento Crypto: 2,300%+ crescimento em 5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Pressão Regulatória: $10B+ multas anualmente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Adoção Institucional: 87% bancos planejando crypto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Expansão Global: 156 países com leis crypto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Stack Tecnológico Proprietário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Rede Neural CryptoGraph - GNN proprietária (Patente pendente)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Motor Inteligência Multi-Chain - Cobertura 8+ blockchains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Sistema Piloto Automático Regulatório - Conformidade 50+ jurisdições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Pontuação Risco Zero-Knowledge - Análise preservando privacidade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Expertise AI/ML: 50+ modelos, 5+ anos pesquisa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Vantagem Dados: 100M+ transações rotuladas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Infraestrutura Segurança: Proteção grau militar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Vantagem Performance: Sub-segundo vs. minutos concorrentes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Crescimento Explosivo e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ARR: $2.3M (+340% YoY)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Clientes: 23 (+280% YoY)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Transações: 500M+ analisadas (+1,200% YoY)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Detecção: $1.2B+ lavagem dinheiro detectada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Grande Banco Americano: $500K+ ARR (Produção ativa)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Top-5 Exchange Crypto: $300K+ ARR (Expandindo globalmente)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Agência Governamental: $200K+ ARR (Contrato multi-ano)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Pipeline: 45+ leads qualificados, $3.2M pipeline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Vantagem Competitiva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Velocidade: Sub-segundo vs. minutos/horas concorrentes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Tecnologia IA: GNN proprietária vs. ML básico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Multi-Chain: 8+ blockchains vs. suporte limitado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Regulatório: Auto-conformidade vs. processos manuais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Custo: 70% redução vs. altos custos implementação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Única plataforma AML verdadeiramente próxima geração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Liderança tecnológica e de mercado clara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Rodada Série B: $15M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Vendas &amp; Marketing (40%): $6M - Escalar go-to-market globalmente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Desenvolvimento Produto (35%): $5.25M - IA avançada, P&amp;D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Expansão Equipe (20%): $3M - Contratar 50+ engenheiros, vendas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Capital Giro (5%): $0.75M - Operações, jurídico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Metas 18 Meses: $25M ARR, 150+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Expansão Geográfica: 5 novos mercados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Estratégia Saída: Potencial IPO $5B+ em 5-7 anos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Junte-se à Revolução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Construa o Futuro da Prevenção ao Crime 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Oportunidade de Investimento Série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Rodada de Financiamento $15M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Valuation Pré-Money $75M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Potencial Retorno 10x+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Vantagem First-Mover em Mercado $45B+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Contato: investors@cryptoguard.ai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